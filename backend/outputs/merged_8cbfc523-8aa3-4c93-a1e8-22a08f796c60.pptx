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32F4-0298-46A1-887C-3FAD2AB33881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20F9E-DAF8-46FE-8BE0-C0F2A94E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75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03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42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39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65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06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51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41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9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81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56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63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79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47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276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12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07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3F22-A151-69E1-066E-EC42CC91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F4980-CCB1-83A5-3E2F-B0A7121DD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F9286-9C2D-876C-70ED-CE569A25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14339-5186-0371-5D75-80766307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FC945-5A93-1406-B460-7AA5DFE0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857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D7FF2-D98F-F448-1BAD-B0F9F7B6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4EEBB-87ED-B791-4960-AB74BAB7C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A0F57-E4E7-0716-C0AC-84179ECBF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B5607-C0EE-C871-510F-6C61C91C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4C4F8-CA8E-6FE6-5E10-DF5C1409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6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FCEE-5590-CC97-9319-9824FC60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0AFC2-562B-442A-E098-3CE79833A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FEE54-4B32-A3F4-9B68-BA6F4A68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02323-293F-4EAA-74BE-EB27C6A6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C0362-BE89-73F2-05CA-26E944321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40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F4FD-9D68-34F1-6C4C-ED1E4CC2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1F404-186D-5B76-96B0-4E56BCC65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2D2E1-3203-A181-5F9C-227F29AD1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18659-1EE4-B02E-B9E5-E83885C6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B4CA4-B313-3517-A0E8-A0B75880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FA46-1FB0-9735-5A65-5725D38B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33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CB01-4448-3DA3-F70B-D1F41C3F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86FD2-C976-87E5-C260-EA9DC521F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06155-3DF3-D656-D218-306051505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0CFC5-A77F-3CD4-5CE3-69452878D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C47A7-E461-7112-6E86-C038C2A1C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4AD054-245A-F1DE-3DCE-7C71966F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D492A-147F-853D-80E5-281C32C1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D1042-A415-06AB-FC62-7C38D661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23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5D9C-52E7-05F5-5BF0-D8BC07525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C43CA-4895-EB99-9B53-1C258F20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545E5-FD1C-29C4-438A-2BC519B3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CE6E7-1815-088E-F0B1-8718026A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6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5E8E63-B58F-D6CE-6652-BB3E5B5F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0990C-221C-3B51-8E88-40AAC332A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E4560-617A-32C7-AAE6-EFC826BE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9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776E-BBC1-603D-8BE1-87039FC7D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7C7E1-6D15-52BD-2AD1-B2168D6D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DC8A9-35D7-08CE-BB0B-88FC8CC65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EF740-B50A-5B2F-2461-BF6975472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98C55-00A6-98EB-C330-CAE13005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06C12-8969-E6B9-1F03-C153473E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32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09C1-D989-A2E6-3C42-0D1DDF87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5E336-7743-ABB6-04A8-0AC7CB02B2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AA160-E3F0-8FB7-5461-18CAAA7C1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1B4DA-CECD-4725-F9F5-EE1010DF8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01B94-0B8A-1735-2440-6B10C8002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56EF2-8F50-A557-FBC9-8FD0A1EC1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866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0FE2-0E6C-2CDD-8ABE-87E134C22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13E6EA-BBA4-0AFC-F652-CD0E97E5D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C3FA1-B0E0-9C39-079A-52323066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F598F-CDB5-46F6-0B94-6BBB2DF4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C4691-F3B5-0E9D-40DA-878C84002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26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3F21F4-4334-20CF-7168-4AFDAB913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44747-F1F7-A701-1B70-48827AB21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8CDEE-E33B-6B49-B741-DF4FD184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F1CE7-1942-1B72-B132-97F2571A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A61E9-C040-873A-9DD7-3B62377D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460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19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20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91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76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1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65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601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4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7FD44-315F-6597-B54E-BE4A9B7C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04237-0D9E-08FB-822F-AD87AB9B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6D70E-EEA3-F3CE-496D-BC7491640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0B104-4FE4-467C-95E8-99EB02C6D99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CE44D-1D14-AE0E-96D3-D6D227037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A7478-0900-30FE-9034-2BABCE903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AF022-4FF0-414B-9618-55D334CB6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58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sv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sv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20.svg"/><Relationship Id="rId4" Type="http://schemas.openxmlformats.org/officeDocument/2006/relationships/image" Target="../media/image17.sv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A4BC730-582D-8BE5-C3FA-0F16F29BD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37502"/>
            <a:ext cx="12192000" cy="1020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 descr="C:\Users\Girish\AppData\Local\Packages\Microsoft.Windows.Photos_8wekyb3d8bbwe\TempState\ShareServiceTempFolder\GHRCEM Pune (1).jpeg">
            <a:extLst>
              <a:ext uri="{FF2B5EF4-FFF2-40B4-BE49-F238E27FC236}">
                <a16:creationId xmlns:a16="http://schemas.microsoft.com/office/drawing/2014/main" id="{142F01C4-5911-292C-5517-1B053FAB6F8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68600" cy="18938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2C63C-E825-E74C-9089-C05D31E40593}"/>
              </a:ext>
            </a:extLst>
          </p:cNvPr>
          <p:cNvSpPr txBox="1"/>
          <p:nvPr/>
        </p:nvSpPr>
        <p:spPr>
          <a:xfrm>
            <a:off x="2260600" y="293217"/>
            <a:ext cx="9029700" cy="141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462" algn="ctr"/>
            <a:r>
              <a:rPr lang="en-US" sz="2583" b="1" dirty="0"/>
              <a:t>G H </a:t>
            </a:r>
            <a:r>
              <a:rPr lang="en-US" sz="2583" b="1" dirty="0" err="1"/>
              <a:t>Raisoni</a:t>
            </a:r>
            <a:r>
              <a:rPr lang="en-US" sz="2583" b="1" dirty="0"/>
              <a:t> College of Engineering &amp; Management, Pune </a:t>
            </a:r>
            <a:br>
              <a:rPr lang="en-US" sz="2000" b="1" dirty="0"/>
            </a:br>
            <a:r>
              <a:rPr lang="en-US" sz="1833" dirty="0"/>
              <a:t>(An Empowered Autonomous Institute Affiliated to Savitribai Phule Pune University)</a:t>
            </a:r>
          </a:p>
          <a:p>
            <a:pPr marL="952462" algn="ctr"/>
            <a:r>
              <a:rPr lang="en-US" sz="2333" b="1" dirty="0"/>
              <a:t>Department of Information Technology</a:t>
            </a:r>
            <a:endParaRPr lang="en-IN" sz="2333" b="1" dirty="0"/>
          </a:p>
        </p:txBody>
      </p:sp>
    </p:spTree>
    <p:extLst>
      <p:ext uri="{BB962C8B-B14F-4D97-AF65-F5344CB8AC3E}">
        <p14:creationId xmlns:p14="http://schemas.microsoft.com/office/powerpoint/2010/main" val="869240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1803499"/>
            <a:ext cx="6297018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Impact of Digital Channels on Integrated Marketing Communications (IMC)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4449564"/>
            <a:ext cx="6297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Unifying brand messages in the digital age for stronger customer connections and business growth.</a:t>
            </a:r>
            <a:endParaRPr lang="en-US" sz="1458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B2521D8-50F3-6B15-205A-87ABA6D67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92800"/>
            <a:ext cx="12192000" cy="96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075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474490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Integrated Marketing Communications (IMC)?</a:t>
            </a:r>
            <a:endParaRPr lang="en-US" sz="3708" dirty="0"/>
          </a:p>
        </p:txBody>
      </p:sp>
      <p:sp>
        <p:nvSpPr>
          <p:cNvPr id="3" name="Shape 1"/>
          <p:cNvSpPr/>
          <p:nvPr/>
        </p:nvSpPr>
        <p:spPr>
          <a:xfrm>
            <a:off x="661492" y="3033812"/>
            <a:ext cx="3496965" cy="23495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6092" y="3033812"/>
            <a:ext cx="101600" cy="2349599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5" name="Text 3"/>
          <p:cNvSpPr/>
          <p:nvPr/>
        </p:nvSpPr>
        <p:spPr>
          <a:xfrm>
            <a:off x="952104" y="324822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Unification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952103" y="3656906"/>
            <a:ext cx="29919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IMC is a strategic approach that unifies all marketing channels to deliver a consistent, compelling brand message across diverse platforms.</a:t>
            </a:r>
            <a:endParaRPr lang="en-US" sz="1458" dirty="0"/>
          </a:p>
        </p:txBody>
      </p:sp>
      <p:sp>
        <p:nvSpPr>
          <p:cNvPr id="7" name="Shape 5"/>
          <p:cNvSpPr/>
          <p:nvPr/>
        </p:nvSpPr>
        <p:spPr>
          <a:xfrm>
            <a:off x="4347468" y="3033812"/>
            <a:ext cx="3496965" cy="23495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22068" y="3033812"/>
            <a:ext cx="101600" cy="2349599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9" name="Text 7"/>
          <p:cNvSpPr/>
          <p:nvPr/>
        </p:nvSpPr>
        <p:spPr>
          <a:xfrm>
            <a:off x="4638080" y="324822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Down Silos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4638080" y="3656906"/>
            <a:ext cx="29919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breaks down traditional barriers between advertising, public relations, sales promotion, and digital marketing to create one cohesive customer experience.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8033444" y="3033812"/>
            <a:ext cx="3496965" cy="23495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8044" y="3033812"/>
            <a:ext cx="101600" cy="2349599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4057" y="324822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Principles</a:t>
            </a:r>
            <a:endParaRPr lang="en-US" sz="1833" dirty="0"/>
          </a:p>
        </p:txBody>
      </p:sp>
      <p:sp>
        <p:nvSpPr>
          <p:cNvPr id="14" name="Text 12"/>
          <p:cNvSpPr/>
          <p:nvPr/>
        </p:nvSpPr>
        <p:spPr>
          <a:xfrm>
            <a:off x="8324057" y="3656906"/>
            <a:ext cx="29919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foundation of IMC rests on customer-centricity, message consistency, channel synergy, two-way communication, and strategic alignment of all efforts.</a:t>
            </a:r>
            <a:endParaRPr lang="en-US" sz="1458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0B5AAA26-8BE4-782D-7368-F441FEFE9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61434"/>
            <a:ext cx="12230051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2393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718" y="431106"/>
            <a:ext cx="8060829" cy="47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Channels: The Game Changer for IMC</a:t>
            </a:r>
            <a:endParaRPr lang="en-US" sz="2958" dirty="0"/>
          </a:p>
        </p:txBody>
      </p:sp>
      <p:sp>
        <p:nvSpPr>
          <p:cNvPr id="3" name="Text 1"/>
          <p:cNvSpPr/>
          <p:nvPr/>
        </p:nvSpPr>
        <p:spPr>
          <a:xfrm>
            <a:off x="848718" y="1200051"/>
            <a:ext cx="5061744" cy="131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Channels:</a:t>
            </a: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SEO, social media, email campaigns, PPC advertising, content marketing, and mobile apps.</a:t>
            </a:r>
            <a:endParaRPr lang="en-US" sz="1167" dirty="0"/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 Spend Shift:</a:t>
            </a: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Projected </a:t>
            </a:r>
            <a:r>
              <a:rPr lang="en-US" sz="1167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70% digital by 2026</a:t>
            </a: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escalating to </a:t>
            </a:r>
            <a:r>
              <a:rPr lang="en-US" sz="1167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75% by 2027</a:t>
            </a: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167" dirty="0"/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Advantages:</a:t>
            </a: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Precise audience targeting, real-time engagement, and measurable Return on Investment (ROI).</a:t>
            </a:r>
            <a:endParaRPr lang="en-US" sz="116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668" y="1200051"/>
            <a:ext cx="4423966" cy="4423966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34F87A2-BC0E-B9D3-1F8F-30487FFB4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07" y="5803901"/>
            <a:ext cx="12199708" cy="1048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802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0"/>
            <a:ext cx="3471333" cy="520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1992610"/>
            <a:ext cx="6297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Digital: The Engine of Modern IMC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3457377"/>
            <a:ext cx="6297018" cy="120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Offers unparalleled precision in audience targeting.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Enables real-time connection and engagement with customers.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Delivers measurable impact and quantifiable results.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Transforms brand engagement and fosters significant growth.</a:t>
            </a:r>
            <a:endParaRPr lang="en-US" sz="1458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2780452-B64C-1834-A455-923BEA52B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09673"/>
            <a:ext cx="12192000" cy="1048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2767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144389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Digital Channels Enhance IMC Effectiveness</a:t>
            </a:r>
            <a:endParaRPr lang="en-US" sz="3708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92" y="2703711"/>
            <a:ext cx="472480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211" y="2703711"/>
            <a:ext cx="277782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Unwavering Consistency</a:t>
            </a:r>
            <a:endParaRPr lang="en-US" sz="1833" dirty="0"/>
          </a:p>
        </p:txBody>
      </p:sp>
      <p:sp>
        <p:nvSpPr>
          <p:cNvPr id="5" name="Text 2"/>
          <p:cNvSpPr/>
          <p:nvPr/>
        </p:nvSpPr>
        <p:spPr>
          <a:xfrm>
            <a:off x="1370211" y="3112393"/>
            <a:ext cx="4607619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platforms ensure uniform messaging across all touchpoints, from your website to social media profiles and email newsletters.</a:t>
            </a:r>
            <a:endParaRPr lang="en-US" sz="145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4070" y="2703711"/>
            <a:ext cx="472480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790" y="2703711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Interaction</a:t>
            </a:r>
            <a:endParaRPr lang="en-US" sz="1833" dirty="0"/>
          </a:p>
        </p:txBody>
      </p:sp>
      <p:sp>
        <p:nvSpPr>
          <p:cNvPr id="8" name="Text 4"/>
          <p:cNvSpPr/>
          <p:nvPr/>
        </p:nvSpPr>
        <p:spPr>
          <a:xfrm>
            <a:off x="6922791" y="3112393"/>
            <a:ext cx="4607719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Consumers actively engage with brands through likes, shares, comments, and personalized content, fostering a two-way dialogue.</a:t>
            </a:r>
            <a:endParaRPr lang="en-US" sz="1458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92" y="4397673"/>
            <a:ext cx="472480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211" y="439767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Powerful Synergy</a:t>
            </a:r>
            <a:endParaRPr lang="en-US" sz="1833" dirty="0"/>
          </a:p>
        </p:txBody>
      </p:sp>
      <p:sp>
        <p:nvSpPr>
          <p:cNvPr id="11" name="Text 6"/>
          <p:cNvSpPr/>
          <p:nvPr/>
        </p:nvSpPr>
        <p:spPr>
          <a:xfrm>
            <a:off x="1370211" y="4806355"/>
            <a:ext cx="4607619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content amplifies traditional campaigns, extending their reach (e.g., TV ads on YouTube, shared on social media).</a:t>
            </a:r>
            <a:endParaRPr lang="en-US" sz="1458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4070" y="4397673"/>
            <a:ext cx="472480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790" y="439767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Analytics</a:t>
            </a:r>
            <a:endParaRPr lang="en-US" sz="1833" dirty="0"/>
          </a:p>
        </p:txBody>
      </p:sp>
      <p:sp>
        <p:nvSpPr>
          <p:cNvPr id="14" name="Text 8"/>
          <p:cNvSpPr/>
          <p:nvPr/>
        </p:nvSpPr>
        <p:spPr>
          <a:xfrm>
            <a:off x="6922791" y="4806355"/>
            <a:ext cx="4607719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Tools like Google Analytics provide deep, real-time insights to continuously optimize campaigns and improve performance.</a:t>
            </a:r>
            <a:endParaRPr lang="en-US" sz="1458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B72F41DC-6FED-F139-C8C9-19B153164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7020"/>
            <a:ext cx="12192000" cy="1030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053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718" y="431106"/>
            <a:ext cx="7639844" cy="47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Media: The Heartbeat of Digital IMC</a:t>
            </a:r>
            <a:endParaRPr lang="en-US" sz="2958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318" y="1227534"/>
            <a:ext cx="4523383" cy="4523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7890" y="1200051"/>
            <a:ext cx="5061744" cy="2635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Platforms like Facebook, Instagram, and LinkedIn are central to digital IMC, enabling targeted advertisements and organic community engagement.</a:t>
            </a:r>
            <a:endParaRPr lang="en-US" sz="1167" dirty="0"/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Social media supports various marketing functions, including: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 relations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marketing initiatives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promotions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Compelling brand storytelling</a:t>
            </a:r>
            <a:endParaRPr lang="en-US" sz="1167" dirty="0"/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Brands leverage these platforms for: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Running integrated contests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Collaborating with influencers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Distributing viral content</a:t>
            </a:r>
            <a:endParaRPr lang="en-US" sz="1167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B663B12-DDD2-6594-A19D-40A79D3C1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07605"/>
            <a:ext cx="12216058" cy="1050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9661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251446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Solutions in Integrating Digital Channels with IMC</a:t>
            </a:r>
            <a:endParaRPr lang="en-US" sz="3708" dirty="0"/>
          </a:p>
        </p:txBody>
      </p:sp>
      <p:sp>
        <p:nvSpPr>
          <p:cNvPr id="3" name="Shape 1"/>
          <p:cNvSpPr/>
          <p:nvPr/>
        </p:nvSpPr>
        <p:spPr>
          <a:xfrm>
            <a:off x="661492" y="2810769"/>
            <a:ext cx="10869018" cy="2795786"/>
          </a:xfrm>
          <a:prstGeom prst="roundRect">
            <a:avLst>
              <a:gd name="adj" fmla="val 608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42" y="2817119"/>
            <a:ext cx="5428158" cy="1391543"/>
          </a:xfrm>
          <a:prstGeom prst="roundRect">
            <a:avLst>
              <a:gd name="adj" fmla="val 1222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56854" y="3006130"/>
            <a:ext cx="28626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 Fragmentation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856853" y="3414812"/>
            <a:ext cx="505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Balancing diverse traditional and digital messaging without fragmenting the brand identity.</a:t>
            </a:r>
            <a:endParaRPr lang="en-US" sz="1458" dirty="0"/>
          </a:p>
        </p:txBody>
      </p:sp>
      <p:sp>
        <p:nvSpPr>
          <p:cNvPr id="7" name="Shape 5"/>
          <p:cNvSpPr/>
          <p:nvPr/>
        </p:nvSpPr>
        <p:spPr>
          <a:xfrm>
            <a:off x="6096000" y="2817119"/>
            <a:ext cx="5428158" cy="1391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0" y="2817119"/>
            <a:ext cx="25400" cy="1391543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9" name="Text 7"/>
          <p:cNvSpPr/>
          <p:nvPr/>
        </p:nvSpPr>
        <p:spPr>
          <a:xfrm>
            <a:off x="6285012" y="3006130"/>
            <a:ext cx="28460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Unified Strategy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6285012" y="3414812"/>
            <a:ext cx="505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a cohesive content strategy and maintain a consistent brand voice across all marketing channels.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667842" y="4208661"/>
            <a:ext cx="5428158" cy="1391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842" y="4208661"/>
            <a:ext cx="5428158" cy="25400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3" name="Text 11"/>
          <p:cNvSpPr/>
          <p:nvPr/>
        </p:nvSpPr>
        <p:spPr>
          <a:xfrm>
            <a:off x="856854" y="4397673"/>
            <a:ext cx="29408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 Rapid Changes</a:t>
            </a:r>
            <a:endParaRPr lang="en-US" sz="1833" dirty="0"/>
          </a:p>
        </p:txBody>
      </p:sp>
      <p:sp>
        <p:nvSpPr>
          <p:cNvPr id="14" name="Text 12"/>
          <p:cNvSpPr/>
          <p:nvPr/>
        </p:nvSpPr>
        <p:spPr>
          <a:xfrm>
            <a:off x="856853" y="4806355"/>
            <a:ext cx="505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Keeping pace with the fast-evolving digital landscape and emerging trends.</a:t>
            </a:r>
            <a:endParaRPr lang="en-US" sz="1458" dirty="0"/>
          </a:p>
        </p:txBody>
      </p:sp>
      <p:sp>
        <p:nvSpPr>
          <p:cNvPr id="15" name="Shape 13"/>
          <p:cNvSpPr/>
          <p:nvPr/>
        </p:nvSpPr>
        <p:spPr>
          <a:xfrm>
            <a:off x="6096000" y="4208661"/>
            <a:ext cx="5428158" cy="1391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0" y="4208661"/>
            <a:ext cx="25400" cy="1391543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0" y="4208661"/>
            <a:ext cx="5428158" cy="25400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8" name="Text 16"/>
          <p:cNvSpPr/>
          <p:nvPr/>
        </p:nvSpPr>
        <p:spPr>
          <a:xfrm>
            <a:off x="6285012" y="4397673"/>
            <a:ext cx="28774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Agile Adaptation</a:t>
            </a:r>
            <a:endParaRPr lang="en-US" sz="1833" dirty="0"/>
          </a:p>
        </p:txBody>
      </p:sp>
      <p:sp>
        <p:nvSpPr>
          <p:cNvPr id="19" name="Text 17"/>
          <p:cNvSpPr/>
          <p:nvPr/>
        </p:nvSpPr>
        <p:spPr>
          <a:xfrm>
            <a:off x="6285012" y="4806355"/>
            <a:ext cx="505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Employ agile marketing tactics and leverage continuous, data-driven optimization to stay relevant.</a:t>
            </a:r>
            <a:endParaRPr lang="en-US" sz="1458" dirty="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FABF543D-42BA-1EA0-C5FF-8DBC65CDD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5762427"/>
            <a:ext cx="12192000" cy="10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975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638" y="-1"/>
            <a:ext cx="4729363" cy="60198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1276747"/>
            <a:ext cx="6297018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Conclusion: Digital Channels Are Essential to Modern IMC Success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3332163"/>
            <a:ext cx="6297018" cy="211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marketing has revolutionized IMC into an integrated, interactive, and highly measurable strategy.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Mastering the integration of digital channels builds stronger customer trust, fosters lasting loyalty, and achieves significant business growth.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Embracing evolving digital tools is crucial to ensure your IMC strategy remains relevant, impactful, and ahead of the curve.</a:t>
            </a:r>
            <a:endParaRPr lang="en-US" sz="1458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D5D790A-77ED-2B51-C303-2E345B08D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19501"/>
            <a:ext cx="12191999" cy="10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7868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A4BC730-582D-8BE5-C3FA-0F16F29BD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37502"/>
            <a:ext cx="12192000" cy="1020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 descr="C:\Users\Girish\AppData\Local\Packages\Microsoft.Windows.Photos_8wekyb3d8bbwe\TempState\ShareServiceTempFolder\GHRCEM Pune (1).jpeg">
            <a:extLst>
              <a:ext uri="{FF2B5EF4-FFF2-40B4-BE49-F238E27FC236}">
                <a16:creationId xmlns:a16="http://schemas.microsoft.com/office/drawing/2014/main" id="{142F01C4-5911-292C-5517-1B053FAB6F8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68600" cy="18938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2C63C-E825-E74C-9089-C05D31E40593}"/>
              </a:ext>
            </a:extLst>
          </p:cNvPr>
          <p:cNvSpPr txBox="1"/>
          <p:nvPr/>
        </p:nvSpPr>
        <p:spPr>
          <a:xfrm>
            <a:off x="2260600" y="293217"/>
            <a:ext cx="9029700" cy="141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462" algn="ctr"/>
            <a:r>
              <a:rPr lang="en-US" sz="2583" b="1" dirty="0"/>
              <a:t>G H </a:t>
            </a:r>
            <a:r>
              <a:rPr lang="en-US" sz="2583" b="1" dirty="0" err="1"/>
              <a:t>Raisoni</a:t>
            </a:r>
            <a:r>
              <a:rPr lang="en-US" sz="2583" b="1" dirty="0"/>
              <a:t> College of Engineering &amp; Management, Pune </a:t>
            </a:r>
            <a:br>
              <a:rPr lang="en-US" sz="2000" b="1" dirty="0"/>
            </a:br>
            <a:r>
              <a:rPr lang="en-US" sz="1833" dirty="0"/>
              <a:t>(An Empowered Autonomous Institute Affiliated to Savitribai Phule Pune University)</a:t>
            </a:r>
          </a:p>
          <a:p>
            <a:pPr marL="952462" algn="ctr"/>
            <a:r>
              <a:rPr lang="en-US" sz="2333" b="1" dirty="0"/>
              <a:t>Department of Information Technology</a:t>
            </a:r>
            <a:endParaRPr lang="en-IN" sz="2333" b="1" dirty="0"/>
          </a:p>
        </p:txBody>
      </p:sp>
    </p:spTree>
    <p:extLst>
      <p:ext uri="{BB962C8B-B14F-4D97-AF65-F5344CB8AC3E}">
        <p14:creationId xmlns:p14="http://schemas.microsoft.com/office/powerpoint/2010/main" val="3358821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1803499"/>
            <a:ext cx="6297018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Impact of Digital Channels on Integrated Marketing Communications (IMC)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4449564"/>
            <a:ext cx="6297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Unifying brand messages in the digital age for stronger customer connections and business growth.</a:t>
            </a:r>
            <a:endParaRPr lang="en-US" sz="1458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B2521D8-50F3-6B15-205A-87ABA6D67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92800"/>
            <a:ext cx="12192000" cy="96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0430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474490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Integrated Marketing Communications (IMC)?</a:t>
            </a:r>
            <a:endParaRPr lang="en-US" sz="3708" dirty="0"/>
          </a:p>
        </p:txBody>
      </p:sp>
      <p:sp>
        <p:nvSpPr>
          <p:cNvPr id="3" name="Shape 1"/>
          <p:cNvSpPr/>
          <p:nvPr/>
        </p:nvSpPr>
        <p:spPr>
          <a:xfrm>
            <a:off x="661492" y="3033812"/>
            <a:ext cx="3496965" cy="23495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6092" y="3033812"/>
            <a:ext cx="101600" cy="2349599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5" name="Text 3"/>
          <p:cNvSpPr/>
          <p:nvPr/>
        </p:nvSpPr>
        <p:spPr>
          <a:xfrm>
            <a:off x="952104" y="324822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Unification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952103" y="3656906"/>
            <a:ext cx="29919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IMC is a strategic approach that unifies all marketing channels to deliver a consistent, compelling brand message across diverse platforms.</a:t>
            </a:r>
            <a:endParaRPr lang="en-US" sz="1458" dirty="0"/>
          </a:p>
        </p:txBody>
      </p:sp>
      <p:sp>
        <p:nvSpPr>
          <p:cNvPr id="7" name="Shape 5"/>
          <p:cNvSpPr/>
          <p:nvPr/>
        </p:nvSpPr>
        <p:spPr>
          <a:xfrm>
            <a:off x="4347468" y="3033812"/>
            <a:ext cx="3496965" cy="23495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22068" y="3033812"/>
            <a:ext cx="101600" cy="2349599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9" name="Text 7"/>
          <p:cNvSpPr/>
          <p:nvPr/>
        </p:nvSpPr>
        <p:spPr>
          <a:xfrm>
            <a:off x="4638080" y="324822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Down Silos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4638080" y="3656906"/>
            <a:ext cx="29919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breaks down traditional barriers between advertising, public relations, sales promotion, and digital marketing to create one cohesive customer experience.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8033444" y="3033812"/>
            <a:ext cx="3496965" cy="23495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8044" y="3033812"/>
            <a:ext cx="101600" cy="2349599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4057" y="324822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Principles</a:t>
            </a:r>
            <a:endParaRPr lang="en-US" sz="1833" dirty="0"/>
          </a:p>
        </p:txBody>
      </p:sp>
      <p:sp>
        <p:nvSpPr>
          <p:cNvPr id="14" name="Text 12"/>
          <p:cNvSpPr/>
          <p:nvPr/>
        </p:nvSpPr>
        <p:spPr>
          <a:xfrm>
            <a:off x="8324057" y="3656906"/>
            <a:ext cx="29919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foundation of IMC rests on customer-centricity, message consistency, channel synergy, two-way communication, and strategic alignment of all efforts.</a:t>
            </a:r>
            <a:endParaRPr lang="en-US" sz="1458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0B5AAA26-8BE4-782D-7368-F441FEFE9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61434"/>
            <a:ext cx="12230051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9823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718" y="431106"/>
            <a:ext cx="8060829" cy="47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Channels: The Game Changer for IMC</a:t>
            </a:r>
            <a:endParaRPr lang="en-US" sz="2958" dirty="0"/>
          </a:p>
        </p:txBody>
      </p:sp>
      <p:sp>
        <p:nvSpPr>
          <p:cNvPr id="3" name="Text 1"/>
          <p:cNvSpPr/>
          <p:nvPr/>
        </p:nvSpPr>
        <p:spPr>
          <a:xfrm>
            <a:off x="848718" y="1200051"/>
            <a:ext cx="5061744" cy="131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Channels:</a:t>
            </a: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SEO, social media, email campaigns, PPC advertising, content marketing, and mobile apps.</a:t>
            </a:r>
            <a:endParaRPr lang="en-US" sz="1167" dirty="0"/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 Spend Shift:</a:t>
            </a: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Projected </a:t>
            </a:r>
            <a:r>
              <a:rPr lang="en-US" sz="1167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70% digital by 2026</a:t>
            </a: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escalating to </a:t>
            </a:r>
            <a:r>
              <a:rPr lang="en-US" sz="1167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75% by 2027</a:t>
            </a: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167" dirty="0"/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Advantages:</a:t>
            </a: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Precise audience targeting, real-time engagement, and measurable Return on Investment (ROI).</a:t>
            </a:r>
            <a:endParaRPr lang="en-US" sz="116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668" y="1200051"/>
            <a:ext cx="4423966" cy="4423966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34F87A2-BC0E-B9D3-1F8F-30487FFB4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07" y="5803901"/>
            <a:ext cx="12199708" cy="1048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9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0"/>
            <a:ext cx="3471333" cy="520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1992610"/>
            <a:ext cx="6297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Digital: The Engine of Modern IMC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3457377"/>
            <a:ext cx="6297018" cy="120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Offers unparalleled precision in audience targeting.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Enables real-time connection and engagement with customers.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Delivers measurable impact and quantifiable results.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Transforms brand engagement and fosters significant growth.</a:t>
            </a:r>
            <a:endParaRPr lang="en-US" sz="1458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2780452-B64C-1834-A455-923BEA52B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09673"/>
            <a:ext cx="12192000" cy="1048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5879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144389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Digital Channels Enhance IMC Effectiveness</a:t>
            </a:r>
            <a:endParaRPr lang="en-US" sz="3708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92" y="2703711"/>
            <a:ext cx="472480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211" y="2703711"/>
            <a:ext cx="277782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Unwavering Consistency</a:t>
            </a:r>
            <a:endParaRPr lang="en-US" sz="1833" dirty="0"/>
          </a:p>
        </p:txBody>
      </p:sp>
      <p:sp>
        <p:nvSpPr>
          <p:cNvPr id="5" name="Text 2"/>
          <p:cNvSpPr/>
          <p:nvPr/>
        </p:nvSpPr>
        <p:spPr>
          <a:xfrm>
            <a:off x="1370211" y="3112393"/>
            <a:ext cx="4607619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platforms ensure uniform messaging across all touchpoints, from your website to social media profiles and email newsletters.</a:t>
            </a:r>
            <a:endParaRPr lang="en-US" sz="145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4070" y="2703711"/>
            <a:ext cx="472480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790" y="2703711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Interaction</a:t>
            </a:r>
            <a:endParaRPr lang="en-US" sz="1833" dirty="0"/>
          </a:p>
        </p:txBody>
      </p:sp>
      <p:sp>
        <p:nvSpPr>
          <p:cNvPr id="8" name="Text 4"/>
          <p:cNvSpPr/>
          <p:nvPr/>
        </p:nvSpPr>
        <p:spPr>
          <a:xfrm>
            <a:off x="6922791" y="3112393"/>
            <a:ext cx="4607719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Consumers actively engage with brands through likes, shares, comments, and personalized content, fostering a two-way dialogue.</a:t>
            </a:r>
            <a:endParaRPr lang="en-US" sz="1458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92" y="4397673"/>
            <a:ext cx="472480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211" y="439767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Powerful Synergy</a:t>
            </a:r>
            <a:endParaRPr lang="en-US" sz="1833" dirty="0"/>
          </a:p>
        </p:txBody>
      </p:sp>
      <p:sp>
        <p:nvSpPr>
          <p:cNvPr id="11" name="Text 6"/>
          <p:cNvSpPr/>
          <p:nvPr/>
        </p:nvSpPr>
        <p:spPr>
          <a:xfrm>
            <a:off x="1370211" y="4806355"/>
            <a:ext cx="4607619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content amplifies traditional campaigns, extending their reach (e.g., TV ads on YouTube, shared on social media).</a:t>
            </a:r>
            <a:endParaRPr lang="en-US" sz="1458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4070" y="4397673"/>
            <a:ext cx="472480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790" y="439767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Analytics</a:t>
            </a:r>
            <a:endParaRPr lang="en-US" sz="1833" dirty="0"/>
          </a:p>
        </p:txBody>
      </p:sp>
      <p:sp>
        <p:nvSpPr>
          <p:cNvPr id="14" name="Text 8"/>
          <p:cNvSpPr/>
          <p:nvPr/>
        </p:nvSpPr>
        <p:spPr>
          <a:xfrm>
            <a:off x="6922791" y="4806355"/>
            <a:ext cx="4607719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Tools like Google Analytics provide deep, real-time insights to continuously optimize campaigns and improve performance.</a:t>
            </a:r>
            <a:endParaRPr lang="en-US" sz="1458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B72F41DC-6FED-F139-C8C9-19B153164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7020"/>
            <a:ext cx="12192000" cy="1030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7526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718" y="431106"/>
            <a:ext cx="7639844" cy="47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Media: The Heartbeat of Digital IMC</a:t>
            </a:r>
            <a:endParaRPr lang="en-US" sz="2958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318" y="1227534"/>
            <a:ext cx="4523383" cy="4523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7890" y="1200051"/>
            <a:ext cx="5061744" cy="2635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Platforms like Facebook, Instagram, and LinkedIn are central to digital IMC, enabling targeted advertisements and organic community engagement.</a:t>
            </a:r>
            <a:endParaRPr lang="en-US" sz="1167" dirty="0"/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Social media supports various marketing functions, including: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 relations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marketing initiatives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promotions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Compelling brand storytelling</a:t>
            </a:r>
            <a:endParaRPr lang="en-US" sz="1167" dirty="0"/>
          </a:p>
          <a:p>
            <a:pPr marL="285739" indent="-285739">
              <a:lnSpc>
                <a:spcPts val="1708"/>
              </a:lnSpc>
              <a:buSzPct val="100000"/>
              <a:buChar char="•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Brands leverage these platforms for: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Running integrated contests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Collaborating with influencers</a:t>
            </a:r>
            <a:endParaRPr lang="en-US" sz="1167" dirty="0"/>
          </a:p>
          <a:p>
            <a:pPr marL="571477" lvl="1" indent="-285739">
              <a:lnSpc>
                <a:spcPts val="1708"/>
              </a:lnSpc>
              <a:buSzPct val="100000"/>
              <a:buChar char="◦"/>
            </a:pPr>
            <a:r>
              <a:rPr lang="en-US" sz="1167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Distributing viral content</a:t>
            </a:r>
            <a:endParaRPr lang="en-US" sz="1167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B663B12-DDD2-6594-A19D-40A79D3C1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07605"/>
            <a:ext cx="12216058" cy="1050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3449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251446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Solutions in Integrating Digital Channels with IMC</a:t>
            </a:r>
            <a:endParaRPr lang="en-US" sz="3708" dirty="0"/>
          </a:p>
        </p:txBody>
      </p:sp>
      <p:sp>
        <p:nvSpPr>
          <p:cNvPr id="3" name="Shape 1"/>
          <p:cNvSpPr/>
          <p:nvPr/>
        </p:nvSpPr>
        <p:spPr>
          <a:xfrm>
            <a:off x="661492" y="2810769"/>
            <a:ext cx="10869018" cy="2795786"/>
          </a:xfrm>
          <a:prstGeom prst="roundRect">
            <a:avLst>
              <a:gd name="adj" fmla="val 608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42" y="2817119"/>
            <a:ext cx="5428158" cy="1391543"/>
          </a:xfrm>
          <a:prstGeom prst="roundRect">
            <a:avLst>
              <a:gd name="adj" fmla="val 1222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56854" y="3006130"/>
            <a:ext cx="28626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 Fragmentation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856853" y="3414812"/>
            <a:ext cx="505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Balancing diverse traditional and digital messaging without fragmenting the brand identity.</a:t>
            </a:r>
            <a:endParaRPr lang="en-US" sz="1458" dirty="0"/>
          </a:p>
        </p:txBody>
      </p:sp>
      <p:sp>
        <p:nvSpPr>
          <p:cNvPr id="7" name="Shape 5"/>
          <p:cNvSpPr/>
          <p:nvPr/>
        </p:nvSpPr>
        <p:spPr>
          <a:xfrm>
            <a:off x="6096000" y="2817119"/>
            <a:ext cx="5428158" cy="1391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0" y="2817119"/>
            <a:ext cx="25400" cy="1391543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9" name="Text 7"/>
          <p:cNvSpPr/>
          <p:nvPr/>
        </p:nvSpPr>
        <p:spPr>
          <a:xfrm>
            <a:off x="6285012" y="3006130"/>
            <a:ext cx="28460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Unified Strategy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6285012" y="3414812"/>
            <a:ext cx="505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a cohesive content strategy and maintain a consistent brand voice across all marketing channels.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667842" y="4208661"/>
            <a:ext cx="5428158" cy="1391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842" y="4208661"/>
            <a:ext cx="5428158" cy="25400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3" name="Text 11"/>
          <p:cNvSpPr/>
          <p:nvPr/>
        </p:nvSpPr>
        <p:spPr>
          <a:xfrm>
            <a:off x="856854" y="4397673"/>
            <a:ext cx="29408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 Rapid Changes</a:t>
            </a:r>
            <a:endParaRPr lang="en-US" sz="1833" dirty="0"/>
          </a:p>
        </p:txBody>
      </p:sp>
      <p:sp>
        <p:nvSpPr>
          <p:cNvPr id="14" name="Text 12"/>
          <p:cNvSpPr/>
          <p:nvPr/>
        </p:nvSpPr>
        <p:spPr>
          <a:xfrm>
            <a:off x="856853" y="4806355"/>
            <a:ext cx="505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Keeping pace with the fast-evolving digital landscape and emerging trends.</a:t>
            </a:r>
            <a:endParaRPr lang="en-US" sz="1458" dirty="0"/>
          </a:p>
        </p:txBody>
      </p:sp>
      <p:sp>
        <p:nvSpPr>
          <p:cNvPr id="15" name="Shape 13"/>
          <p:cNvSpPr/>
          <p:nvPr/>
        </p:nvSpPr>
        <p:spPr>
          <a:xfrm>
            <a:off x="6096000" y="4208661"/>
            <a:ext cx="5428158" cy="1391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0" y="4208661"/>
            <a:ext cx="25400" cy="1391543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0" y="4208661"/>
            <a:ext cx="5428158" cy="25400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8" name="Text 16"/>
          <p:cNvSpPr/>
          <p:nvPr/>
        </p:nvSpPr>
        <p:spPr>
          <a:xfrm>
            <a:off x="6285012" y="4397673"/>
            <a:ext cx="28774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Agile Adaptation</a:t>
            </a:r>
            <a:endParaRPr lang="en-US" sz="1833" dirty="0"/>
          </a:p>
        </p:txBody>
      </p:sp>
      <p:sp>
        <p:nvSpPr>
          <p:cNvPr id="19" name="Text 17"/>
          <p:cNvSpPr/>
          <p:nvPr/>
        </p:nvSpPr>
        <p:spPr>
          <a:xfrm>
            <a:off x="6285012" y="4806355"/>
            <a:ext cx="505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Employ agile marketing tactics and leverage continuous, data-driven optimization to stay relevant.</a:t>
            </a:r>
            <a:endParaRPr lang="en-US" sz="1458" dirty="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FABF543D-42BA-1EA0-C5FF-8DBC65CDD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5762427"/>
            <a:ext cx="12192000" cy="105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9420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638" y="-1"/>
            <a:ext cx="4729363" cy="60198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1276747"/>
            <a:ext cx="6297018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Conclusion: Digital Channels Are Essential to Modern IMC Success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3332163"/>
            <a:ext cx="6297018" cy="211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marketing has revolutionized IMC into an integrated, interactive, and highly measurable strategy.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Mastering the integration of digital channels builds stronger customer trust, fosters lasting loyalty, and achieves significant business growth.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Embracing evolving digital tools is crucial to ensure your IMC strategy remains relevant, impactful, and ahead of the curve.</a:t>
            </a:r>
            <a:endParaRPr lang="en-US" sz="1458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D5D790A-77ED-2B51-C303-2E345B08D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19501"/>
            <a:ext cx="12191999" cy="10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87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1110</Words>
  <Application>Microsoft Office PowerPoint</Application>
  <PresentationFormat>Widescreen</PresentationFormat>
  <Paragraphs>122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Inter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Shripal Rathod</dc:creator>
  <cp:lastModifiedBy>Shripal Rathod</cp:lastModifiedBy>
  <cp:revision>1</cp:revision>
  <dcterms:created xsi:type="dcterms:W3CDTF">2026-02-25T13:08:03Z</dcterms:created>
  <dcterms:modified xsi:type="dcterms:W3CDTF">2026-02-25T13:08:04Z</dcterms:modified>
</cp:coreProperties>
</file>