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Inter" panose="020B0604020202020204" charset="0"/>
      <p:regular r:id="rId12"/>
    </p:embeddedFont>
    <p:embeddedFont>
      <p:font typeface="Manrop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52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159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A4BC730-582D-8BE5-C3FA-0F16F29BD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05002"/>
            <a:ext cx="14630400" cy="1224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 descr="C:\Users\Girish\AppData\Local\Packages\Microsoft.Windows.Photos_8wekyb3d8bbwe\TempState\ShareServiceTempFolder\GHRCEM Pune (1).jpeg">
            <a:extLst>
              <a:ext uri="{FF2B5EF4-FFF2-40B4-BE49-F238E27FC236}">
                <a16:creationId xmlns:a16="http://schemas.microsoft.com/office/drawing/2014/main" id="{142F01C4-5911-292C-5517-1B053FAB6F8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22320" cy="227266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2C63C-E825-E74C-9089-C05D31E40593}"/>
              </a:ext>
            </a:extLst>
          </p:cNvPr>
          <p:cNvSpPr txBox="1"/>
          <p:nvPr/>
        </p:nvSpPr>
        <p:spPr>
          <a:xfrm>
            <a:off x="2712720" y="351860"/>
            <a:ext cx="1083564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algn="ctr"/>
            <a:r>
              <a:rPr lang="en-US" sz="3100" b="1" dirty="0"/>
              <a:t>G H </a:t>
            </a:r>
            <a:r>
              <a:rPr lang="en-US" sz="3100" b="1" dirty="0" err="1"/>
              <a:t>Raisoni</a:t>
            </a:r>
            <a:r>
              <a:rPr lang="en-US" sz="3100" b="1" dirty="0"/>
              <a:t> College of Engineering &amp; Management, Pune </a:t>
            </a:r>
            <a:br>
              <a:rPr lang="en-US" sz="2400" b="1" dirty="0"/>
            </a:br>
            <a:r>
              <a:rPr lang="en-US" sz="2200" dirty="0"/>
              <a:t>(An Empowered Autonomous Institute Affiliated to Savitribai Phule Pune University)</a:t>
            </a:r>
          </a:p>
          <a:p>
            <a:pPr marL="1143000" algn="ctr"/>
            <a:r>
              <a:rPr lang="en-US" sz="2800" b="1" dirty="0"/>
              <a:t>Department of Information Technology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70077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64199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Impact of Digital Channels on Integrated Marketing Communications (IMC)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394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Unifying brand messages in the digital age for stronger customer connections and business growth.</a:t>
            </a:r>
            <a:endParaRPr lang="en-US" sz="175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B2521D8-50F3-6B15-205A-87ABA6D67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71360"/>
            <a:ext cx="14630400" cy="1158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938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Integrated Marketing Communications (IMC)?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40574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640574"/>
            <a:ext cx="121920" cy="2819519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897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Unification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388287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IMC is a strategic approach that unifies all marketing channels to deliver a consistent, compelling brand message across diverse platforms.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640574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640574"/>
            <a:ext cx="121920" cy="2819519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897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Down Silos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388287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breaks down traditional barriers between advertising, public relations, sales promotion, and digital marketing to create one cohesive customer experience.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640574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640574"/>
            <a:ext cx="121920" cy="2819519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897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388287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foundation of IMC rests on customer-centricity, message consistency, channel synergy, two-way communication, and strategic alignment of all efforts.</a:t>
            </a:r>
            <a:endParaRPr lang="en-US" sz="1750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0B5AAA26-8BE4-782D-7368-F441FEFE9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13721"/>
            <a:ext cx="14676061" cy="131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9672995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Channels: The Game Changer for IMC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18461" y="1440061"/>
            <a:ext cx="6074093" cy="1581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Channels: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SEO, social media, email campaigns, PPC advertising, content marketing, and mobile apps.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 Spend Shift: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Projected </a:t>
            </a:r>
            <a:r>
              <a:rPr lang="en-US" sz="14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70% digital by 2026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escalating to </a:t>
            </a:r>
            <a:r>
              <a:rPr lang="en-US" sz="14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75% by 2027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Advantages: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Precise audience targeting, real-time engagement, and measurable Return on Investment (ROI).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801" y="1440061"/>
            <a:ext cx="5308759" cy="5308759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34F87A2-BC0E-B9D3-1F8F-30487FFB4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49" y="6964681"/>
            <a:ext cx="14639649" cy="12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0"/>
            <a:ext cx="4165600" cy="6248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9113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Digital: The Engine of Modern IMC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48852"/>
            <a:ext cx="75564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Offers unparalleled precision in audience targeting.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Enables real-time connection and engagement with customers.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Delivers measurable impact and quantifiable results.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Transforms brand engagement and fosters significant growth.</a:t>
            </a:r>
            <a:endParaRPr lang="en-US" sz="175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2780452-B64C-1834-A455-923BEA52B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71607"/>
            <a:ext cx="14630400" cy="125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326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Digital Channels Enhance IMC Effectiveness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4445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44453"/>
            <a:ext cx="33333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Unwavering Consistency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34872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platforms ensure uniform messaging across all touchpoints, from your website to social media profiles and email newsletters.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24445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44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Interaction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734872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Consumers actively engage with brands through likes, shares, comments, and personalized content, fostering a two-way dialogue.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27720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2772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Powerful Synergy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767626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content amplifies traditional campaigns, extending their reach (e.g., TV ads on YouTube, shared on social media).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277207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2772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Analytics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767626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Tools like Google Analytics provide deep, real-time insights to continuously optimize campaigns and improve performance.</a:t>
            </a:r>
            <a:endParaRPr lang="en-US" sz="1750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B72F41DC-6FED-F139-C8C9-19B153164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92423"/>
            <a:ext cx="14630400" cy="123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9167813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Media: The Heartbeat of Digital IMC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181" y="1473041"/>
            <a:ext cx="5428059" cy="54280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45467" y="1440061"/>
            <a:ext cx="6074093" cy="3162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Platforms like Facebook, Instagram, and LinkedIn are central to digital IMC, enabling targeted advertisements and organic community engagement.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Social media supports various marketing functions, including:</a:t>
            </a:r>
            <a:endParaRPr lang="en-US" sz="1400" dirty="0"/>
          </a:p>
          <a:p>
            <a:pPr marL="685800" lvl="1" indent="-342900" algn="l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 relations</a:t>
            </a:r>
            <a:endParaRPr lang="en-US" sz="1400" dirty="0"/>
          </a:p>
          <a:p>
            <a:pPr marL="685800" lvl="1" indent="-342900" algn="l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marketing initiatives</a:t>
            </a:r>
            <a:endParaRPr lang="en-US" sz="1400" dirty="0"/>
          </a:p>
          <a:p>
            <a:pPr marL="685800" lvl="1" indent="-342900" algn="l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promotions</a:t>
            </a:r>
            <a:endParaRPr lang="en-US" sz="1400" dirty="0"/>
          </a:p>
          <a:p>
            <a:pPr marL="685800" lvl="1" indent="-342900" algn="l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Compelling brand storytelling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Brands leverage these platforms for:</a:t>
            </a:r>
            <a:endParaRPr lang="en-US" sz="1400" dirty="0"/>
          </a:p>
          <a:p>
            <a:pPr marL="685800" lvl="1" indent="-342900" algn="l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Running integrated contests</a:t>
            </a:r>
            <a:endParaRPr lang="en-US" sz="1400" dirty="0"/>
          </a:p>
          <a:p>
            <a:pPr marL="685800" lvl="1" indent="-342900" algn="l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Collaborating with influencers</a:t>
            </a:r>
            <a:endParaRPr lang="en-US" sz="1400" dirty="0"/>
          </a:p>
          <a:p>
            <a:pPr marL="685800" lvl="1" indent="-342900" algn="l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Distributing viral content</a:t>
            </a:r>
            <a:endParaRPr lang="en-US" sz="14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B663B12-DDD2-6594-A19D-40A79D3C1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69125"/>
            <a:ext cx="14659269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173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Solutions in Integrating Digital Channels with IMC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72922"/>
            <a:ext cx="13042821" cy="3354943"/>
          </a:xfrm>
          <a:prstGeom prst="roundRect">
            <a:avLst>
              <a:gd name="adj" fmla="val 608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380542"/>
            <a:ext cx="6513790" cy="1669852"/>
          </a:xfrm>
          <a:prstGeom prst="roundRect">
            <a:avLst>
              <a:gd name="adj" fmla="val 1222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3607356"/>
            <a:ext cx="3435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 Fragmentation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097774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Balancing diverse traditional and digital messaging without fragmenting the brand identity.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315200" y="3380542"/>
            <a:ext cx="6513790" cy="16698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3380542"/>
            <a:ext cx="30480" cy="1669852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9" name="Text 7"/>
          <p:cNvSpPr/>
          <p:nvPr/>
        </p:nvSpPr>
        <p:spPr>
          <a:xfrm>
            <a:off x="7542014" y="3607356"/>
            <a:ext cx="34153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Unified Strategy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42014" y="4097774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a cohesive content strategy and maintain a consistent brand voice across all marketing channels.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5050393"/>
            <a:ext cx="6513790" cy="16698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1410" y="5050393"/>
            <a:ext cx="6513790" cy="30480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224" y="5277207"/>
            <a:ext cx="35290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 Rapid Changes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767626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Keeping pace with the fast-evolving digital landscape and emerging trends.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315200" y="5050393"/>
            <a:ext cx="6513790" cy="16698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5050393"/>
            <a:ext cx="30480" cy="1669852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5050393"/>
            <a:ext cx="6513790" cy="30480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8" name="Text 16"/>
          <p:cNvSpPr/>
          <p:nvPr/>
        </p:nvSpPr>
        <p:spPr>
          <a:xfrm>
            <a:off x="7542014" y="5277207"/>
            <a:ext cx="34529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Agile Adaptation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42014" y="5767626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Employ agile marketing tactics and leverage continuous, data-driven optimization to stay relevant.</a:t>
            </a:r>
            <a:endParaRPr lang="en-US" sz="1750" dirty="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FABF543D-42BA-1EA0-C5FF-8DBC65CDD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" y="6914912"/>
            <a:ext cx="14630400" cy="126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165" y="-1"/>
            <a:ext cx="5675235" cy="72237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3209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Conclusion: Digital Channels Are Essential to Modern IMC Success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98595"/>
            <a:ext cx="7556421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marketing has revolutionized IMC into an integrated, interactive, and highly measurable strategy.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Mastering the integration of digital channels builds stronger customer trust, fosters lasting loyalty, and achieves significant business growth.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Embracing evolving digital tools is crucial to ensure your IMC strategy remains relevant, impactful, and ahead of the curve.</a:t>
            </a:r>
            <a:endParaRPr lang="en-US" sz="175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D5D790A-77ED-2B51-C303-2E345B08D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983401"/>
            <a:ext cx="14630399" cy="124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555</Words>
  <Application>Microsoft Office PowerPoint</Application>
  <PresentationFormat>Custom</PresentationFormat>
  <Paragraphs>61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Inter</vt:lpstr>
      <vt:lpstr>Manrope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Shripal Rathod</cp:lastModifiedBy>
  <cp:revision>2</cp:revision>
  <dcterms:created xsi:type="dcterms:W3CDTF">2026-01-29T18:54:23Z</dcterms:created>
  <dcterms:modified xsi:type="dcterms:W3CDTF">2026-01-29T19:10:17Z</dcterms:modified>
</cp:coreProperties>
</file>